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52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031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062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098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127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158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189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222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256" algn="l" defTabSz="91406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32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1" indent="-342871" algn="l" defTabSz="91432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89" indent="-285728" algn="l" defTabSz="91432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5" indent="-228582" algn="l" defTabSz="91432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9" indent="-228582" algn="l" defTabSz="91432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31" indent="-228582" algn="l" defTabSz="91432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2" indent="-228582" algn="l" defTabSz="9143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5" indent="-228582" algn="l" defTabSz="9143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8" indent="-228582" algn="l" defTabSz="9143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80" indent="-228582" algn="l" defTabSz="9143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4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25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7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9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1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2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6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0" algn="l" defTabSz="91432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183" y="1529576"/>
            <a:ext cx="11750042" cy="4389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2799" b="1" dirty="0">
                <a:solidFill>
                  <a:srgbClr val="0B13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Pipeline of AI-Based ASD Movement Analysis</a:t>
            </a:r>
            <a:endParaRPr lang="en-US" sz="2799" dirty="0"/>
          </a:p>
        </p:txBody>
      </p:sp>
      <p:sp>
        <p:nvSpPr>
          <p:cNvPr id="3" name="Shape 1"/>
          <p:cNvSpPr/>
          <p:nvPr/>
        </p:nvSpPr>
        <p:spPr>
          <a:xfrm>
            <a:off x="1947016" y="3487038"/>
            <a:ext cx="246889" cy="219457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4" name="Shape 2"/>
          <p:cNvSpPr/>
          <p:nvPr/>
        </p:nvSpPr>
        <p:spPr>
          <a:xfrm>
            <a:off x="4000463" y="3523730"/>
            <a:ext cx="246889" cy="219457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5" name="Shape 3"/>
          <p:cNvSpPr/>
          <p:nvPr/>
        </p:nvSpPr>
        <p:spPr>
          <a:xfrm>
            <a:off x="6040627" y="3553904"/>
            <a:ext cx="246889" cy="219457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6" name="Shape 4"/>
          <p:cNvSpPr/>
          <p:nvPr/>
        </p:nvSpPr>
        <p:spPr>
          <a:xfrm>
            <a:off x="8084290" y="3494955"/>
            <a:ext cx="246889" cy="219457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7" name="Shape 5"/>
          <p:cNvSpPr/>
          <p:nvPr/>
        </p:nvSpPr>
        <p:spPr>
          <a:xfrm>
            <a:off x="10164816" y="3542459"/>
            <a:ext cx="246889" cy="219457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8" name="Shape 6"/>
          <p:cNvSpPr/>
          <p:nvPr/>
        </p:nvSpPr>
        <p:spPr>
          <a:xfrm>
            <a:off x="146292" y="2426345"/>
            <a:ext cx="1738453" cy="2340863"/>
          </a:xfrm>
          <a:prstGeom prst="roundRect">
            <a:avLst>
              <a:gd name="adj" fmla="val 6627"/>
            </a:avLst>
          </a:prstGeom>
          <a:solidFill>
            <a:schemeClr val="accent1">
              <a:lumMod val="40000"/>
              <a:lumOff val="60000"/>
            </a:schemeClr>
          </a:solidFill>
          <a:ln w="13335">
            <a:solidFill>
              <a:srgbClr val="1F66C2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10" name="Shape 8"/>
          <p:cNvSpPr/>
          <p:nvPr/>
        </p:nvSpPr>
        <p:spPr>
          <a:xfrm>
            <a:off x="810141" y="2233293"/>
            <a:ext cx="347470" cy="347470"/>
          </a:xfrm>
          <a:prstGeom prst="ellipse">
            <a:avLst/>
          </a:prstGeom>
          <a:solidFill>
            <a:srgbClr val="1F66C2"/>
          </a:solidFill>
          <a:ln w="6350">
            <a:solidFill>
              <a:srgbClr val="1F66C2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1</a:t>
            </a:r>
          </a:p>
        </p:txBody>
      </p:sp>
      <p:sp>
        <p:nvSpPr>
          <p:cNvPr id="12" name="Text 10"/>
          <p:cNvSpPr/>
          <p:nvPr/>
        </p:nvSpPr>
        <p:spPr>
          <a:xfrm>
            <a:off x="315677" y="2527757"/>
            <a:ext cx="1335021" cy="594359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531" b="1" dirty="0">
                <a:solidFill>
                  <a:srgbClr val="0E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1531" dirty="0"/>
          </a:p>
          <a:p>
            <a:pPr algn="ctr"/>
            <a:r>
              <a:rPr lang="en-US" sz="1531" b="1" dirty="0">
                <a:solidFill>
                  <a:srgbClr val="0E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acquisition</a:t>
            </a:r>
            <a:endParaRPr lang="en-US" sz="1531" dirty="0"/>
          </a:p>
        </p:txBody>
      </p:sp>
      <p:sp>
        <p:nvSpPr>
          <p:cNvPr id="14" name="Text 12"/>
          <p:cNvSpPr/>
          <p:nvPr/>
        </p:nvSpPr>
        <p:spPr>
          <a:xfrm>
            <a:off x="300945" y="3083921"/>
            <a:ext cx="1424182" cy="885760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Autofit/>
          </a:bodyPr>
          <a:lstStyle/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RGB video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Kinect/Depth sensors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Motion capture (VICON)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Wearable IMU sensors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Force plates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15328" y="2481774"/>
            <a:ext cx="1734664" cy="2303404"/>
          </a:xfrm>
          <a:prstGeom prst="roundRect">
            <a:avLst>
              <a:gd name="adj" fmla="val 6627"/>
            </a:avLst>
          </a:prstGeom>
          <a:solidFill>
            <a:srgbClr val="F1FAEE"/>
          </a:solidFill>
          <a:ln w="13335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17" name="Shape 15"/>
          <p:cNvSpPr/>
          <p:nvPr/>
        </p:nvSpPr>
        <p:spPr>
          <a:xfrm>
            <a:off x="2908221" y="2279682"/>
            <a:ext cx="347470" cy="347470"/>
          </a:xfrm>
          <a:prstGeom prst="ellipse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2</a:t>
            </a:r>
          </a:p>
        </p:txBody>
      </p:sp>
      <p:sp>
        <p:nvSpPr>
          <p:cNvPr id="19" name="Text 17"/>
          <p:cNvSpPr/>
          <p:nvPr/>
        </p:nvSpPr>
        <p:spPr>
          <a:xfrm>
            <a:off x="2411514" y="2542015"/>
            <a:ext cx="1335021" cy="594359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531" b="1" dirty="0">
                <a:solidFill>
                  <a:srgbClr val="1F5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</a:t>
            </a:r>
            <a:endParaRPr lang="en-US" sz="1531" dirty="0"/>
          </a:p>
          <a:p>
            <a:pPr algn="ctr"/>
            <a:r>
              <a:rPr lang="en-US" sz="1531" b="1" dirty="0">
                <a:solidFill>
                  <a:srgbClr val="1F5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</a:t>
            </a:r>
            <a:endParaRPr lang="en-US" sz="1531" dirty="0"/>
          </a:p>
        </p:txBody>
      </p:sp>
      <p:sp>
        <p:nvSpPr>
          <p:cNvPr id="21" name="Text 19"/>
          <p:cNvSpPr/>
          <p:nvPr/>
        </p:nvSpPr>
        <p:spPr>
          <a:xfrm>
            <a:off x="2423366" y="3117009"/>
            <a:ext cx="1316737" cy="1190596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rmAutofit/>
          </a:bodyPr>
          <a:lstStyle/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segmentation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denoising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normalization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pose estimation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skeletal tracking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80845" y="2493219"/>
            <a:ext cx="1702287" cy="2303404"/>
          </a:xfrm>
          <a:prstGeom prst="roundRect">
            <a:avLst>
              <a:gd name="adj" fmla="val 6627"/>
            </a:avLst>
          </a:prstGeom>
          <a:solidFill>
            <a:schemeClr val="accent4">
              <a:lumMod val="20000"/>
              <a:lumOff val="80000"/>
            </a:schemeClr>
          </a:solidFill>
          <a:ln w="13335">
            <a:solidFill>
              <a:srgbClr val="F28C18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24" name="Shape 22"/>
          <p:cNvSpPr/>
          <p:nvPr/>
        </p:nvSpPr>
        <p:spPr>
          <a:xfrm>
            <a:off x="4917429" y="2283781"/>
            <a:ext cx="347470" cy="347470"/>
          </a:xfrm>
          <a:prstGeom prst="ellipse">
            <a:avLst/>
          </a:prstGeom>
          <a:solidFill>
            <a:srgbClr val="F28C18"/>
          </a:solidFill>
          <a:ln w="6350">
            <a:solidFill>
              <a:srgbClr val="F28C18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3</a:t>
            </a:r>
          </a:p>
        </p:txBody>
      </p:sp>
      <p:sp>
        <p:nvSpPr>
          <p:cNvPr id="26" name="Text 24"/>
          <p:cNvSpPr/>
          <p:nvPr/>
        </p:nvSpPr>
        <p:spPr>
          <a:xfrm>
            <a:off x="4426773" y="2542015"/>
            <a:ext cx="1335021" cy="594359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531" b="1" dirty="0">
                <a:solidFill>
                  <a:srgbClr val="B8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</a:t>
            </a:r>
            <a:endParaRPr lang="en-US" sz="1531" dirty="0"/>
          </a:p>
          <a:p>
            <a:pPr algn="ctr"/>
            <a:r>
              <a:rPr lang="en-US" sz="1531" b="1" dirty="0">
                <a:solidFill>
                  <a:srgbClr val="B8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extraction</a:t>
            </a:r>
            <a:endParaRPr lang="en-US" sz="1531" dirty="0"/>
          </a:p>
        </p:txBody>
      </p:sp>
      <p:sp>
        <p:nvSpPr>
          <p:cNvPr id="28" name="Text 26"/>
          <p:cNvSpPr/>
          <p:nvPr/>
        </p:nvSpPr>
        <p:spPr>
          <a:xfrm>
            <a:off x="4410261" y="3116997"/>
            <a:ext cx="1454204" cy="1756687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rmAutofit/>
          </a:bodyPr>
          <a:lstStyle/>
          <a:p>
            <a:r>
              <a:rPr lang="en-US" sz="1079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kinematic features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gait parameters 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skeletal features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spatiotemporal features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23865" y="2481762"/>
            <a:ext cx="1702091" cy="2332943"/>
          </a:xfrm>
          <a:prstGeom prst="roundRect">
            <a:avLst>
              <a:gd name="adj" fmla="val 6627"/>
            </a:avLst>
          </a:prstGeom>
          <a:solidFill>
            <a:srgbClr val="F6F0FF"/>
          </a:solidFill>
          <a:ln w="13335">
            <a:solidFill>
              <a:srgbClr val="6C3FA0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31" name="Shape 29"/>
          <p:cNvSpPr/>
          <p:nvPr/>
        </p:nvSpPr>
        <p:spPr>
          <a:xfrm>
            <a:off x="7042330" y="2287384"/>
            <a:ext cx="347470" cy="347470"/>
          </a:xfrm>
          <a:prstGeom prst="ellipse">
            <a:avLst/>
          </a:prstGeom>
          <a:solidFill>
            <a:srgbClr val="6C3FA0"/>
          </a:solidFill>
          <a:ln w="6350">
            <a:solidFill>
              <a:srgbClr val="6C3FA0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4</a:t>
            </a:r>
          </a:p>
        </p:txBody>
      </p:sp>
      <p:sp>
        <p:nvSpPr>
          <p:cNvPr id="33" name="Text 31"/>
          <p:cNvSpPr/>
          <p:nvPr/>
        </p:nvSpPr>
        <p:spPr>
          <a:xfrm>
            <a:off x="6406175" y="2571546"/>
            <a:ext cx="1335021" cy="594359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531" b="1" dirty="0">
                <a:solidFill>
                  <a:srgbClr val="4A24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model</a:t>
            </a:r>
            <a:endParaRPr lang="en-US" sz="1531" dirty="0"/>
          </a:p>
        </p:txBody>
      </p:sp>
      <p:sp>
        <p:nvSpPr>
          <p:cNvPr id="35" name="Text 33"/>
          <p:cNvSpPr/>
          <p:nvPr/>
        </p:nvSpPr>
        <p:spPr>
          <a:xfrm>
            <a:off x="6617737" y="3083931"/>
            <a:ext cx="1316737" cy="1719072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rmAutofit/>
          </a:bodyPr>
          <a:lstStyle/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SVM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RF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ANN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CNN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LSTM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GCN/GAT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Transformer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378298" y="2481762"/>
            <a:ext cx="1702091" cy="2332943"/>
          </a:xfrm>
          <a:prstGeom prst="roundRect">
            <a:avLst>
              <a:gd name="adj" fmla="val 6627"/>
            </a:avLst>
          </a:prstGeom>
          <a:solidFill>
            <a:srgbClr val="EFFFFF"/>
          </a:solidFill>
          <a:ln w="13335">
            <a:solidFill>
              <a:srgbClr val="0C8F95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38" name="Shape 36"/>
          <p:cNvSpPr/>
          <p:nvPr/>
        </p:nvSpPr>
        <p:spPr>
          <a:xfrm>
            <a:off x="9055608" y="2287384"/>
            <a:ext cx="347470" cy="347470"/>
          </a:xfrm>
          <a:prstGeom prst="ellipse">
            <a:avLst/>
          </a:prstGeom>
          <a:solidFill>
            <a:srgbClr val="0C8F95"/>
          </a:solidFill>
          <a:ln w="6350">
            <a:solidFill>
              <a:srgbClr val="0C8F95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5</a:t>
            </a:r>
          </a:p>
        </p:txBody>
      </p:sp>
      <p:sp>
        <p:nvSpPr>
          <p:cNvPr id="40" name="Text 38"/>
          <p:cNvSpPr/>
          <p:nvPr/>
        </p:nvSpPr>
        <p:spPr>
          <a:xfrm>
            <a:off x="8451461" y="2634859"/>
            <a:ext cx="1335021" cy="777242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243" b="1" dirty="0">
                <a:solidFill>
                  <a:srgbClr val="086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ASD / TD</a:t>
            </a:r>
            <a:endParaRPr lang="en-US" sz="1243" dirty="0"/>
          </a:p>
          <a:p>
            <a:pPr algn="ctr"/>
            <a:r>
              <a:rPr lang="en-US" sz="1243" b="1" dirty="0">
                <a:solidFill>
                  <a:srgbClr val="086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1243" dirty="0"/>
          </a:p>
          <a:p>
            <a:pPr algn="ctr"/>
            <a:r>
              <a:rPr lang="en-US" sz="1243" b="1" dirty="0">
                <a:solidFill>
                  <a:srgbClr val="086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SMM</a:t>
            </a:r>
            <a:endParaRPr lang="en-US" sz="1243" dirty="0"/>
          </a:p>
          <a:p>
            <a:pPr algn="ctr"/>
            <a:r>
              <a:rPr lang="en-US" sz="1243" b="1" dirty="0">
                <a:solidFill>
                  <a:srgbClr val="086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</a:t>
            </a:r>
            <a:endParaRPr lang="en-US" sz="1243" dirty="0"/>
          </a:p>
        </p:txBody>
      </p:sp>
      <p:sp>
        <p:nvSpPr>
          <p:cNvPr id="42" name="Text 40"/>
          <p:cNvSpPr/>
          <p:nvPr/>
        </p:nvSpPr>
        <p:spPr>
          <a:xfrm>
            <a:off x="8495645" y="3408726"/>
            <a:ext cx="1454204" cy="1719072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rmAutofit/>
          </a:bodyPr>
          <a:lstStyle/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ASD classification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gait analysis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SMM recognition</a:t>
            </a: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</a:t>
            </a:r>
            <a:r>
              <a:rPr lang="en-CA" sz="997" dirty="0">
                <a:latin typeface="Calibri" panose="020F0502020204030204" pitchFamily="34" charset="0"/>
                <a:cs typeface="Calibri" panose="020F0502020204030204" pitchFamily="34" charset="0"/>
              </a:rPr>
              <a:t>behavior assessment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466951" y="2481762"/>
            <a:ext cx="1703492" cy="2332943"/>
          </a:xfrm>
          <a:prstGeom prst="roundRect">
            <a:avLst>
              <a:gd name="adj" fmla="val 6627"/>
            </a:avLst>
          </a:prstGeom>
          <a:solidFill>
            <a:srgbClr val="FFF0F5"/>
          </a:solidFill>
          <a:ln w="13335">
            <a:solidFill>
              <a:srgbClr val="E34A7B"/>
            </a:solidFill>
            <a:prstDash val="solid"/>
          </a:ln>
        </p:spPr>
        <p:txBody>
          <a:bodyPr/>
          <a:lstStyle/>
          <a:p>
            <a:endParaRPr lang="fr-CA" sz="1801"/>
          </a:p>
        </p:txBody>
      </p:sp>
      <p:sp>
        <p:nvSpPr>
          <p:cNvPr id="45" name="Shape 43"/>
          <p:cNvSpPr/>
          <p:nvPr/>
        </p:nvSpPr>
        <p:spPr>
          <a:xfrm>
            <a:off x="11178594" y="2278019"/>
            <a:ext cx="347470" cy="347470"/>
          </a:xfrm>
          <a:prstGeom prst="ellipse">
            <a:avLst/>
          </a:prstGeom>
          <a:solidFill>
            <a:srgbClr val="E34A7B"/>
          </a:solidFill>
          <a:ln w="6350">
            <a:solidFill>
              <a:srgbClr val="E34A7B"/>
            </a:solidFill>
            <a:prstDash val="solid"/>
          </a:ln>
        </p:spPr>
        <p:txBody>
          <a:bodyPr/>
          <a:lstStyle/>
          <a:p>
            <a:pPr algn="ctr"/>
            <a:r>
              <a:rPr lang="fr-CA" sz="1801" dirty="0"/>
              <a:t>6</a:t>
            </a:r>
          </a:p>
        </p:txBody>
      </p:sp>
      <p:sp>
        <p:nvSpPr>
          <p:cNvPr id="47" name="Text 45"/>
          <p:cNvSpPr/>
          <p:nvPr/>
        </p:nvSpPr>
        <p:spPr>
          <a:xfrm>
            <a:off x="10764705" y="2626036"/>
            <a:ext cx="1335021" cy="594359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ctr">
            <a:normAutofit/>
          </a:bodyPr>
          <a:lstStyle/>
          <a:p>
            <a:pPr algn="ctr"/>
            <a:r>
              <a:rPr lang="en-US" sz="1442" b="1" dirty="0">
                <a:solidFill>
                  <a:srgbClr val="B82E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</a:t>
            </a:r>
            <a:endParaRPr lang="en-US" sz="1442" dirty="0"/>
          </a:p>
          <a:p>
            <a:pPr algn="ctr"/>
            <a:r>
              <a:rPr lang="en-US" sz="1442" b="1" dirty="0">
                <a:solidFill>
                  <a:srgbClr val="B82E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442" dirty="0"/>
          </a:p>
        </p:txBody>
      </p:sp>
      <p:sp>
        <p:nvSpPr>
          <p:cNvPr id="49" name="Text 47"/>
          <p:cNvSpPr/>
          <p:nvPr/>
        </p:nvSpPr>
        <p:spPr>
          <a:xfrm>
            <a:off x="10693968" y="3282722"/>
            <a:ext cx="1476480" cy="1719072"/>
          </a:xfrm>
          <a:prstGeom prst="rect">
            <a:avLst/>
          </a:prstGeom>
          <a:noFill/>
          <a:ln/>
        </p:spPr>
        <p:txBody>
          <a:bodyPr wrap="square" lIns="257" tIns="257" rIns="257" bIns="257" rtlCol="0" anchor="t">
            <a:normAutofit/>
          </a:bodyPr>
          <a:lstStyle/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objective assessment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</a:t>
            </a:r>
            <a:r>
              <a:rPr lang="en-CA" sz="997" dirty="0"/>
              <a:t>severity assessment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monitoring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97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•  decision support</a:t>
            </a:r>
            <a:endParaRPr lang="en-US" sz="99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Graphique 51" descr="Appareil photo avec un remplissage uni">
            <a:extLst>
              <a:ext uri="{FF2B5EF4-FFF2-40B4-BE49-F238E27FC236}">
                <a16:creationId xmlns:a16="http://schemas.microsoft.com/office/drawing/2014/main" id="{8473D3C4-3898-3FDE-5F5D-F09740470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676" y="4178649"/>
            <a:ext cx="286513" cy="286513"/>
          </a:xfrm>
          <a:prstGeom prst="rect">
            <a:avLst/>
          </a:prstGeom>
        </p:spPr>
      </p:pic>
      <p:pic>
        <p:nvPicPr>
          <p:cNvPr id="53" name="Image 52" descr="Xbox 360 Kinect Sensor - Motion ...">
            <a:extLst>
              <a:ext uri="{FF2B5EF4-FFF2-40B4-BE49-F238E27FC236}">
                <a16:creationId xmlns:a16="http://schemas.microsoft.com/office/drawing/2014/main" id="{C6678A49-F035-8B69-297D-6EE5F0337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-66997" y="4060616"/>
            <a:ext cx="1232036" cy="1232036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B4A3A30B-B6E6-8BA1-D87B-24E9E56A10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90" r="28669"/>
          <a:stretch>
            <a:fillRect/>
          </a:stretch>
        </p:blipFill>
        <p:spPr>
          <a:xfrm>
            <a:off x="1135732" y="3857233"/>
            <a:ext cx="850020" cy="1335352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5BD7E766-3FAE-77B6-AA31-2372134FABF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24106" r="25484"/>
          <a:stretch>
            <a:fillRect/>
          </a:stretch>
        </p:blipFill>
        <p:spPr>
          <a:xfrm>
            <a:off x="2234195" y="3933564"/>
            <a:ext cx="906353" cy="1348461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FD070229-1681-F045-653D-C3537FC599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364" r="27808"/>
          <a:stretch>
            <a:fillRect/>
          </a:stretch>
        </p:blipFill>
        <p:spPr>
          <a:xfrm>
            <a:off x="3169948" y="3916392"/>
            <a:ext cx="870863" cy="1365628"/>
          </a:xfrm>
          <a:prstGeom prst="rect">
            <a:avLst/>
          </a:prstGeom>
        </p:spPr>
      </p:pic>
      <p:pic>
        <p:nvPicPr>
          <p:cNvPr id="73" name="Graphique 72" descr="Lumières allumées contour">
            <a:extLst>
              <a:ext uri="{FF2B5EF4-FFF2-40B4-BE49-F238E27FC236}">
                <a16:creationId xmlns:a16="http://schemas.microsoft.com/office/drawing/2014/main" id="{C9AF675F-87FA-D9DC-F692-7CE8606AD6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3495" y="4100248"/>
            <a:ext cx="341403" cy="341403"/>
          </a:xfrm>
          <a:prstGeom prst="rect">
            <a:avLst/>
          </a:prstGeom>
        </p:spPr>
      </p:pic>
      <p:grpSp>
        <p:nvGrpSpPr>
          <p:cNvPr id="78" name="Groupe 77">
            <a:extLst>
              <a:ext uri="{FF2B5EF4-FFF2-40B4-BE49-F238E27FC236}">
                <a16:creationId xmlns:a16="http://schemas.microsoft.com/office/drawing/2014/main" id="{E9AEBF40-A454-1C4D-04A6-78656F9EEC41}"/>
              </a:ext>
            </a:extLst>
          </p:cNvPr>
          <p:cNvGrpSpPr/>
          <p:nvPr/>
        </p:nvGrpSpPr>
        <p:grpSpPr>
          <a:xfrm>
            <a:off x="4497477" y="4092318"/>
            <a:ext cx="1284643" cy="973239"/>
            <a:chOff x="4237731" y="2726119"/>
            <a:chExt cx="966309" cy="739031"/>
          </a:xfrm>
        </p:grpSpPr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58EE532A-9991-88A0-2B5B-2D756B789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59167" t="54598" r="38141" b="31368"/>
            <a:stretch>
              <a:fillRect/>
            </a:stretch>
          </p:blipFill>
          <p:spPr>
            <a:xfrm rot="5400000">
              <a:off x="4595878" y="2367972"/>
              <a:ext cx="246186" cy="962480"/>
            </a:xfrm>
            <a:prstGeom prst="rect">
              <a:avLst/>
            </a:prstGeom>
          </p:spPr>
        </p:pic>
        <p:pic>
          <p:nvPicPr>
            <p:cNvPr id="76" name="Image 75">
              <a:extLst>
                <a:ext uri="{FF2B5EF4-FFF2-40B4-BE49-F238E27FC236}">
                  <a16:creationId xmlns:a16="http://schemas.microsoft.com/office/drawing/2014/main" id="{8B08324C-0AF4-B0CF-0B89-42838DD34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59167" t="54598" r="38141" b="31368"/>
            <a:stretch>
              <a:fillRect/>
            </a:stretch>
          </p:blipFill>
          <p:spPr>
            <a:xfrm rot="5400000">
              <a:off x="4599692" y="2614157"/>
              <a:ext cx="246186" cy="962480"/>
            </a:xfrm>
            <a:prstGeom prst="rect">
              <a:avLst/>
            </a:prstGeom>
          </p:spPr>
        </p:pic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7D815FE6-C6AC-8B96-2F21-FF139EFF8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59167" t="54598" r="38141" b="31368"/>
            <a:stretch>
              <a:fillRect/>
            </a:stretch>
          </p:blipFill>
          <p:spPr>
            <a:xfrm rot="5400000">
              <a:off x="4599707" y="2860817"/>
              <a:ext cx="246186" cy="962480"/>
            </a:xfrm>
            <a:prstGeom prst="rect">
              <a:avLst/>
            </a:prstGeom>
          </p:spPr>
        </p:pic>
      </p:grpSp>
      <p:pic>
        <p:nvPicPr>
          <p:cNvPr id="80" name="Image 79">
            <a:extLst>
              <a:ext uri="{FF2B5EF4-FFF2-40B4-BE49-F238E27FC236}">
                <a16:creationId xmlns:a16="http://schemas.microsoft.com/office/drawing/2014/main" id="{19E93597-27F4-A57A-15BA-411C2EF00B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7082930" y="4251193"/>
            <a:ext cx="386339" cy="408577"/>
          </a:xfrm>
          <a:prstGeom prst="rect">
            <a:avLst/>
          </a:prstGeom>
        </p:spPr>
      </p:pic>
      <p:pic>
        <p:nvPicPr>
          <p:cNvPr id="82" name="Image 81">
            <a:extLst>
              <a:ext uri="{FF2B5EF4-FFF2-40B4-BE49-F238E27FC236}">
                <a16:creationId xmlns:a16="http://schemas.microsoft.com/office/drawing/2014/main" id="{E349030D-8FD7-5C44-88C5-AF851FFD74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0590" y="4131930"/>
            <a:ext cx="1207228" cy="802420"/>
          </a:xfrm>
          <a:prstGeom prst="rect">
            <a:avLst/>
          </a:prstGeom>
        </p:spPr>
      </p:pic>
      <p:pic>
        <p:nvPicPr>
          <p:cNvPr id="1026" name="Picture 2" descr="Stethoscope - Free medical icons">
            <a:extLst>
              <a:ext uri="{FF2B5EF4-FFF2-40B4-BE49-F238E27FC236}">
                <a16:creationId xmlns:a16="http://schemas.microsoft.com/office/drawing/2014/main" id="{80365BC2-5320-7E86-3067-3661DC349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3" y="3995357"/>
            <a:ext cx="679297" cy="67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</TotalTime>
  <Words>115</Words>
  <Application>Microsoft Macintosh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Pipeline of AI-Based ASD Movement Analysis</dc:title>
  <dc:subject>Editable pipeline figure for AI-based ASD movement analysis</dc:subject>
  <dc:creator>OpenAI</dc:creator>
  <cp:lastModifiedBy>Imane Rachidi</cp:lastModifiedBy>
  <cp:revision>8</cp:revision>
  <dcterms:created xsi:type="dcterms:W3CDTF">2026-05-28T17:47:08Z</dcterms:created>
  <dcterms:modified xsi:type="dcterms:W3CDTF">2026-08-22T00:33:53Z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49cdb0-df85-4afd-961a-ad17bdfc31a5_Enabled">
    <vt:lpwstr>true</vt:lpwstr>
  </property>
  <property fmtid="{D5CDD505-2E9C-101B-9397-08002B2CF9AE}" pid="3" name="MSIP_Label_3d49cdb0-df85-4afd-961a-ad17bdfc31a5_SetDate">
    <vt:lpwstr>2026-06-22T21:52:05Z</vt:lpwstr>
  </property>
  <property fmtid="{D5CDD505-2E9C-101B-9397-08002B2CF9AE}" pid="4" name="MSIP_Label_3d49cdb0-df85-4afd-961a-ad17bdfc31a5_Method">
    <vt:lpwstr>Standard</vt:lpwstr>
  </property>
  <property fmtid="{D5CDD505-2E9C-101B-9397-08002B2CF9AE}" pid="5" name="MSIP_Label_3d49cdb0-df85-4afd-961a-ad17bdfc31a5_Name">
    <vt:lpwstr>General</vt:lpwstr>
  </property>
  <property fmtid="{D5CDD505-2E9C-101B-9397-08002B2CF9AE}" pid="6" name="MSIP_Label_3d49cdb0-df85-4afd-961a-ad17bdfc31a5_SiteId">
    <vt:lpwstr>810c295f-e817-4c4e-8996-9b66369b8012</vt:lpwstr>
  </property>
  <property fmtid="{D5CDD505-2E9C-101B-9397-08002B2CF9AE}" pid="7" name="MSIP_Label_3d49cdb0-df85-4afd-961a-ad17bdfc31a5_ActionId">
    <vt:lpwstr>0714a683-d9db-4b25-a5f5-3db80ea7baa1</vt:lpwstr>
  </property>
  <property fmtid="{D5CDD505-2E9C-101B-9397-08002B2CF9AE}" pid="8" name="MSIP_Label_3d49cdb0-df85-4afd-961a-ad17bdfc31a5_ContentBits">
    <vt:lpwstr>0</vt:lpwstr>
  </property>
  <property fmtid="{D5CDD505-2E9C-101B-9397-08002B2CF9AE}" pid="9" name="MSIP_Label_3d49cdb0-df85-4afd-961a-ad17bdfc31a5_Tag">
    <vt:lpwstr>50, 3, 0, 1</vt:lpwstr>
  </property>
</Properties>
</file>